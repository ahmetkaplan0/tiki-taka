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793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4C2AA7-9CD1-4912-9184-E978BE241C13}">
  <a:tblStyle styleId="{724C2AA7-9CD1-4912-9184-E978BE241C1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faa6b5f1a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efaa6b5f1a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rgbClr val="0BA2B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9770" y="5461000"/>
            <a:ext cx="15240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40800" y="5886454"/>
            <a:ext cx="8280000" cy="451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>
            <p:ph type="title"/>
          </p:nvPr>
        </p:nvSpPr>
        <p:spPr>
          <a:xfrm>
            <a:off x="640800" y="4843803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6196" y="435122"/>
            <a:ext cx="1116970" cy="3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">
  <p:cSld name="Slide with logo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0297948" y="1240221"/>
            <a:ext cx="1481958" cy="6726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1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B4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s">
  <p:cSld name="Title and 2 Conten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9650" y="0"/>
            <a:ext cx="6089650" cy="208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92400"/>
            <a:ext cx="4178300" cy="41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2" type="body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4" type="body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7661" y="404660"/>
            <a:ext cx="1063903" cy="3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 showMasterSp="0">
  <p:cSld name="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6" name="Google Shape;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348" y="393566"/>
            <a:ext cx="6557643" cy="355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accen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97670" y="5461000"/>
            <a:ext cx="18161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29" y="190499"/>
            <a:ext cx="18161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640800" y="5850000"/>
            <a:ext cx="3818481" cy="63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322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2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640800" y="4574120"/>
            <a:ext cx="8822225" cy="914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3" type="subTitle"/>
          </p:nvPr>
        </p:nvSpPr>
        <p:spPr>
          <a:xfrm>
            <a:off x="644227" y="2845823"/>
            <a:ext cx="8820000" cy="151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1449" y="507429"/>
            <a:ext cx="1496116" cy="74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Dark" showMasterSp="0">
  <p:cSld name="Title and Content Dark">
    <p:bg>
      <p:bgPr>
        <a:solidFill>
          <a:schemeClr val="accen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Teal" showMasterSp="0">
  <p:cSld name="1_Title and Content Teal">
    <p:bg>
      <p:bgPr>
        <a:solidFill>
          <a:schemeClr val="accent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">
  <p:cSld name="Headlin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 Dark" showMasterSp="0">
  <p:cSld name="Headline only Dark">
    <p:bg>
      <p:bgPr>
        <a:solidFill>
          <a:schemeClr val="accen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1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line only Teal" showMasterSp="0">
  <p:cSld name="1_Headline only Teal">
    <p:bg>
      <p:bgPr>
        <a:solidFill>
          <a:schemeClr val="accent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2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">
    <p:bg>
      <p:bgPr>
        <a:solidFill>
          <a:schemeClr val="accent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567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3"/>
          <p:cNvSpPr txBox="1"/>
          <p:nvPr>
            <p:ph type="title"/>
          </p:nvPr>
        </p:nvSpPr>
        <p:spPr>
          <a:xfrm>
            <a:off x="359999" y="1674394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6480000" y="1674393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2" type="body"/>
          </p:nvPr>
        </p:nvSpPr>
        <p:spPr>
          <a:xfrm>
            <a:off x="648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3" type="body"/>
          </p:nvPr>
        </p:nvSpPr>
        <p:spPr>
          <a:xfrm>
            <a:off x="36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 showMasterSp="0">
  <p:cSld name="Quote Slide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1343734" y="2179914"/>
            <a:ext cx="239177" cy="327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/>
          <p:nvPr/>
        </p:nvSpPr>
        <p:spPr>
          <a:xfrm flipH="1" rot="10800000">
            <a:off x="9366432" y="5569929"/>
            <a:ext cx="505472" cy="505473"/>
          </a:xfrm>
          <a:prstGeom prst="rect">
            <a:avLst/>
          </a:prstGeom>
          <a:solidFill>
            <a:srgbClr val="0BA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1591200" y="2187168"/>
            <a:ext cx="8405525" cy="197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1591200" y="4421963"/>
            <a:ext cx="7025229" cy="8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74886" y="5067046"/>
            <a:ext cx="20066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hoto">
  <p:cSld name="Content with photo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>
            <p:ph idx="2" type="pic"/>
          </p:nvPr>
        </p:nvSpPr>
        <p:spPr>
          <a:xfrm>
            <a:off x="7937500" y="1447601"/>
            <a:ext cx="4241800" cy="5410399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5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360000" y="1440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15"/>
          <p:cNvSpPr txBox="1"/>
          <p:nvPr>
            <p:ph idx="3" type="body"/>
          </p:nvPr>
        </p:nvSpPr>
        <p:spPr>
          <a:xfrm>
            <a:off x="360000" y="1799999"/>
            <a:ext cx="72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3" name="Google Shape;10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7500" y="3935445"/>
            <a:ext cx="9652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>
            <p:ph idx="4" type="body"/>
          </p:nvPr>
        </p:nvSpPr>
        <p:spPr>
          <a:xfrm>
            <a:off x="2793987" y="4888595"/>
            <a:ext cx="6980036" cy="1969405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anchorCtr="0" anchor="t" bIns="317500" lIns="317500" spcFirstLastPara="1" rIns="317500" wrap="square" tIns="317500">
            <a:noAutofit/>
          </a:bodyPr>
          <a:lstStyle>
            <a:lvl1pPr indent="-228600" lvl="0" marL="45720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  <a:defRPr b="1" i="0" sz="1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15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4" showMasterSp="0">
  <p:cSld name="TOC Slide 4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36000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1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 txBox="1"/>
          <p:nvPr>
            <p:ph idx="2" type="body"/>
          </p:nvPr>
        </p:nvSpPr>
        <p:spPr>
          <a:xfrm>
            <a:off x="322999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16"/>
          <p:cNvSpPr txBox="1"/>
          <p:nvPr>
            <p:ph idx="3" type="body"/>
          </p:nvPr>
        </p:nvSpPr>
        <p:spPr>
          <a:xfrm>
            <a:off x="609998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6"/>
          <p:cNvSpPr txBox="1"/>
          <p:nvPr>
            <p:ph idx="4" type="body"/>
          </p:nvPr>
        </p:nvSpPr>
        <p:spPr>
          <a:xfrm>
            <a:off x="896997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8" showMasterSp="0">
  <p:cSld name="TOC Slide 8">
    <p:bg>
      <p:bgPr>
        <a:solidFill>
          <a:schemeClr val="accent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36000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17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>
            <p:ph idx="2" type="body"/>
          </p:nvPr>
        </p:nvSpPr>
        <p:spPr>
          <a:xfrm>
            <a:off x="322999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17"/>
          <p:cNvSpPr txBox="1"/>
          <p:nvPr>
            <p:ph idx="3" type="body"/>
          </p:nvPr>
        </p:nvSpPr>
        <p:spPr>
          <a:xfrm>
            <a:off x="609998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17"/>
          <p:cNvSpPr txBox="1"/>
          <p:nvPr>
            <p:ph idx="4" type="body"/>
          </p:nvPr>
        </p:nvSpPr>
        <p:spPr>
          <a:xfrm>
            <a:off x="896997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17"/>
          <p:cNvSpPr txBox="1"/>
          <p:nvPr>
            <p:ph idx="5" type="body"/>
          </p:nvPr>
        </p:nvSpPr>
        <p:spPr>
          <a:xfrm>
            <a:off x="36000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17"/>
          <p:cNvSpPr txBox="1"/>
          <p:nvPr>
            <p:ph idx="6" type="body"/>
          </p:nvPr>
        </p:nvSpPr>
        <p:spPr>
          <a:xfrm>
            <a:off x="322999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17"/>
          <p:cNvSpPr txBox="1"/>
          <p:nvPr>
            <p:ph idx="7" type="body"/>
          </p:nvPr>
        </p:nvSpPr>
        <p:spPr>
          <a:xfrm>
            <a:off x="609998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17"/>
          <p:cNvSpPr txBox="1"/>
          <p:nvPr>
            <p:ph idx="8" type="body"/>
          </p:nvPr>
        </p:nvSpPr>
        <p:spPr>
          <a:xfrm>
            <a:off x="896997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 Dark" showMasterSp="0">
  <p:cSld name="Agenda slide Table Dark">
    <p:bg>
      <p:bgPr>
        <a:solidFill>
          <a:schemeClr val="accen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" showMasterSp="0">
  <p:cSld name="Agenda slide Table">
    <p:bg>
      <p:bgPr>
        <a:solidFill>
          <a:schemeClr val="accent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5" name="Google Shape;135;p1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360000" y="2610760"/>
            <a:ext cx="3478685" cy="2108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2" type="body"/>
          </p:nvPr>
        </p:nvSpPr>
        <p:spPr>
          <a:xfrm>
            <a:off x="4308328" y="2610760"/>
            <a:ext cx="3478685" cy="2108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20"/>
          <p:cNvSpPr txBox="1"/>
          <p:nvPr>
            <p:ph idx="3" type="body"/>
          </p:nvPr>
        </p:nvSpPr>
        <p:spPr>
          <a:xfrm>
            <a:off x="8256655" y="2610760"/>
            <a:ext cx="3478685" cy="2108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 Dark" showMasterSp="0">
  <p:cSld name="Slide with logo Dark">
    <p:bg>
      <p:bgPr>
        <a:solidFill>
          <a:schemeClr val="accen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with logo Teal" showMasterSp="0">
  <p:cSld name="1_Slide with logo Teal">
    <p:bg>
      <p:bgPr>
        <a:solidFill>
          <a:schemeClr val="accent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2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showMasterSp="0">
  <p:cSld name="Thank You Slide">
    <p:bg>
      <p:bgPr>
        <a:solidFill>
          <a:schemeClr val="accen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54" name="Google Shape;15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0348" y="393566"/>
            <a:ext cx="6557644" cy="355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617538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2" type="body"/>
          </p:nvPr>
        </p:nvSpPr>
        <p:spPr>
          <a:xfrm>
            <a:off x="3473690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3" type="body"/>
          </p:nvPr>
        </p:nvSpPr>
        <p:spPr>
          <a:xfrm>
            <a:off x="6329842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4" type="body"/>
          </p:nvPr>
        </p:nvSpPr>
        <p:spPr>
          <a:xfrm>
            <a:off x="9185994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5" type="body"/>
          </p:nvPr>
        </p:nvSpPr>
        <p:spPr>
          <a:xfrm>
            <a:off x="617538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6" type="body"/>
          </p:nvPr>
        </p:nvSpPr>
        <p:spPr>
          <a:xfrm>
            <a:off x="3473690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23"/>
          <p:cNvSpPr txBox="1"/>
          <p:nvPr>
            <p:ph idx="7" type="body"/>
          </p:nvPr>
        </p:nvSpPr>
        <p:spPr>
          <a:xfrm>
            <a:off x="6329842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23"/>
          <p:cNvSpPr txBox="1"/>
          <p:nvPr>
            <p:ph idx="8" type="body"/>
          </p:nvPr>
        </p:nvSpPr>
        <p:spPr>
          <a:xfrm>
            <a:off x="9185994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ahmet11.kaplan@nttdata.com" TargetMode="External"/><Relationship Id="rId4" Type="http://schemas.openxmlformats.org/officeDocument/2006/relationships/hyperlink" Target="mailto:ahmet11.kaplan@nttdata.com" TargetMode="External"/><Relationship Id="rId5" Type="http://schemas.openxmlformats.org/officeDocument/2006/relationships/image" Target="../media/image16.jpg"/><Relationship Id="rId6" Type="http://schemas.openxmlformats.org/officeDocument/2006/relationships/image" Target="../media/image21.jpg"/><Relationship Id="rId7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" type="body"/>
          </p:nvPr>
        </p:nvSpPr>
        <p:spPr>
          <a:xfrm>
            <a:off x="640800" y="3608250"/>
            <a:ext cx="9246600" cy="7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Tiki-Taka helps coaches analyze opponents, create tactical plans, and visualize the best lineup using AI and automation.</a:t>
            </a:r>
            <a:endParaRPr b="1" sz="1800"/>
          </a:p>
        </p:txBody>
      </p:sp>
      <p:sp>
        <p:nvSpPr>
          <p:cNvPr id="169" name="Google Shape;169;p24"/>
          <p:cNvSpPr txBox="1"/>
          <p:nvPr>
            <p:ph type="title"/>
          </p:nvPr>
        </p:nvSpPr>
        <p:spPr>
          <a:xfrm>
            <a:off x="554450" y="1716975"/>
            <a:ext cx="8568000" cy="17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</a:rPr>
              <a:t>Tiki-Taka: </a:t>
            </a:r>
            <a:r>
              <a:rPr lang="en-US">
                <a:solidFill>
                  <a:schemeClr val="lt1"/>
                </a:solidFill>
              </a:rPr>
              <a:t>Analyze, Plan, Win</a:t>
            </a:r>
            <a:endParaRPr/>
          </a:p>
        </p:txBody>
      </p:sp>
      <p:pic>
        <p:nvPicPr>
          <p:cNvPr id="170" name="Google Shape;17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8925" y="1354150"/>
            <a:ext cx="3861067" cy="21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4"/>
          <p:cNvPicPr preferRelativeResize="0"/>
          <p:nvPr/>
        </p:nvPicPr>
        <p:blipFill rotWithShape="1">
          <a:blip r:embed="rId4">
            <a:alphaModFix/>
          </a:blip>
          <a:srcRect b="16618" l="8038" r="7173" t="15964"/>
          <a:stretch/>
        </p:blipFill>
        <p:spPr>
          <a:xfrm>
            <a:off x="8383550" y="435875"/>
            <a:ext cx="2101852" cy="4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/>
          <p:nvPr/>
        </p:nvSpPr>
        <p:spPr>
          <a:xfrm>
            <a:off x="2186875" y="4320353"/>
            <a:ext cx="2710200" cy="320700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Ahmet Kaplan</a:t>
            </a:r>
            <a:endParaRPr/>
          </a:p>
        </p:txBody>
      </p:sp>
      <p:sp>
        <p:nvSpPr>
          <p:cNvPr id="177" name="Google Shape;177;p25"/>
          <p:cNvSpPr/>
          <p:nvPr/>
        </p:nvSpPr>
        <p:spPr>
          <a:xfrm>
            <a:off x="1563025" y="4950600"/>
            <a:ext cx="3957900" cy="12048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Senior </a:t>
            </a:r>
            <a:r>
              <a:rPr b="1" lang="en-US" sz="1600" u="sng">
                <a:solidFill>
                  <a:schemeClr val="dk1"/>
                </a:solidFill>
              </a:rPr>
              <a:t>Software Engineer </a:t>
            </a:r>
            <a:endParaRPr b="1" sz="1600" u="sng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r>
              <a:rPr b="1" lang="en-US" sz="1600">
                <a:solidFill>
                  <a:schemeClr val="dk1"/>
                </a:solidFill>
              </a:rPr>
              <a:t>NTT Data Business Solutions Türkiye</a:t>
            </a:r>
            <a:endParaRPr b="1" sz="16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1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ahmet11.kaplan@</a:t>
            </a:r>
            <a:r>
              <a:rPr b="1" lang="en-US" sz="1100" u="sng"/>
              <a:t>nttdata</a:t>
            </a:r>
            <a:r>
              <a:rPr b="1" lang="en-US" sz="11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.com</a:t>
            </a:r>
            <a:endParaRPr b="1" sz="1100" u="sng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100" u="sng">
                <a:solidFill>
                  <a:schemeClr val="dk1"/>
                </a:solidFill>
              </a:rPr>
              <a:t>kaplanahmet30@gmail.com</a:t>
            </a:r>
            <a:endParaRPr b="1" sz="1100" u="sng">
              <a:solidFill>
                <a:schemeClr val="dk1"/>
              </a:solidFill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6801350" y="4362274"/>
            <a:ext cx="2710200" cy="320700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Emre Kemal Balcı</a:t>
            </a:r>
            <a:endParaRPr/>
          </a:p>
        </p:txBody>
      </p:sp>
      <p:sp>
        <p:nvSpPr>
          <p:cNvPr id="179" name="Google Shape;179;p25"/>
          <p:cNvSpPr/>
          <p:nvPr/>
        </p:nvSpPr>
        <p:spPr>
          <a:xfrm>
            <a:off x="6133800" y="4950600"/>
            <a:ext cx="4137000" cy="12048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 u="sng">
                <a:solidFill>
                  <a:schemeClr val="dk1"/>
                </a:solidFill>
              </a:rPr>
              <a:t>RPA Group Manager </a:t>
            </a:r>
            <a:endParaRPr b="1" sz="1600" u="sng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r>
              <a:rPr b="1" lang="en-US" sz="1600">
                <a:solidFill>
                  <a:schemeClr val="dk1"/>
                </a:solidFill>
              </a:rPr>
              <a:t>NTT Data Business Solutions Türkiye </a:t>
            </a:r>
            <a:endParaRPr b="1" sz="16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100" u="sng">
                <a:solidFill>
                  <a:schemeClr val="dk1"/>
                </a:solidFill>
              </a:rPr>
              <a:t>emre.balci@nttdata.com</a:t>
            </a:r>
            <a:endParaRPr b="1" sz="1100" u="sng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100" u="sng">
                <a:solidFill>
                  <a:schemeClr val="dk1"/>
                </a:solidFill>
              </a:rPr>
              <a:t>emrekemalbalci@hotmail.com</a:t>
            </a:r>
            <a:endParaRPr b="1" sz="1100" u="sng">
              <a:solidFill>
                <a:schemeClr val="dk1"/>
              </a:solidFill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360000" y="360000"/>
            <a:ext cx="98739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AgeNTT Team</a:t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Tiki-Taka Project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5" title="175717895348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0977" y="1929308"/>
            <a:ext cx="2222100" cy="2222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2" name="Google Shape;182;p25" title="Emre_Kemal_Balc_-_PP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1242" y="1929295"/>
            <a:ext cx="2222100" cy="2222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3" name="Google Shape;183;p25"/>
          <p:cNvPicPr preferRelativeResize="0"/>
          <p:nvPr/>
        </p:nvPicPr>
        <p:blipFill rotWithShape="1">
          <a:blip r:embed="rId7">
            <a:alphaModFix/>
          </a:blip>
          <a:srcRect b="13913" l="7704" r="4754" t="13927"/>
          <a:stretch/>
        </p:blipFill>
        <p:spPr>
          <a:xfrm>
            <a:off x="8418750" y="391481"/>
            <a:ext cx="2126000" cy="4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24"/>
              </a:buClr>
              <a:buSzPts val="3000"/>
              <a:buFont typeface="Arial"/>
              <a:buNone/>
            </a:pPr>
            <a:r>
              <a:rPr lang="en-US">
                <a:solidFill>
                  <a:srgbClr val="172024"/>
                </a:solidFill>
              </a:rPr>
              <a:t>Problem statement and proposed solution</a:t>
            </a:r>
            <a:endParaRPr>
              <a:solidFill>
                <a:srgbClr val="172024"/>
              </a:solidFill>
            </a:endParaRPr>
          </a:p>
        </p:txBody>
      </p:sp>
      <p:sp>
        <p:nvSpPr>
          <p:cNvPr id="189" name="Google Shape;189;p2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26"/>
          <p:cNvSpPr txBox="1"/>
          <p:nvPr>
            <p:ph idx="1" type="body"/>
          </p:nvPr>
        </p:nvSpPr>
        <p:spPr>
          <a:xfrm>
            <a:off x="360000" y="11359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Problem</a:t>
            </a:r>
            <a:endParaRPr/>
          </a:p>
        </p:txBody>
      </p:sp>
      <p:sp>
        <p:nvSpPr>
          <p:cNvPr id="191" name="Google Shape;191;p26"/>
          <p:cNvSpPr txBox="1"/>
          <p:nvPr>
            <p:ph idx="2" type="body"/>
          </p:nvPr>
        </p:nvSpPr>
        <p:spPr>
          <a:xfrm>
            <a:off x="360000" y="1621725"/>
            <a:ext cx="5040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>
                <a:solidFill>
                  <a:srgbClr val="1D1D1F"/>
                </a:solidFill>
                <a:highlight>
                  <a:srgbClr val="FFFFFF"/>
                </a:highlight>
              </a:rPr>
              <a:t>Football teams and analysts must review large amounts of match, player, and opponent data before every game.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>
                <a:solidFill>
                  <a:srgbClr val="1D1D1F"/>
                </a:solidFill>
                <a:highlight>
                  <a:srgbClr val="FFFFFF"/>
                </a:highlight>
              </a:rPr>
              <a:t>Tactical preparation is often manual, time-consuming, and depends heavily on analyst experience.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>
                <a:solidFill>
                  <a:srgbClr val="1D1D1F"/>
                </a:solidFill>
                <a:highlight>
                  <a:srgbClr val="FFFFFF"/>
                </a:highlight>
              </a:rPr>
              <a:t>Opponent analysis, tactical planning, and lineup updates are usually disconnected steps across different tools.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>
                <a:solidFill>
                  <a:srgbClr val="1D1D1F"/>
                </a:solidFill>
                <a:highlight>
                  <a:srgbClr val="FFFFFF"/>
                </a:highlight>
              </a:rPr>
              <a:t>Coaches need faster, data-driven insights to turn opponent weaknesses into actionable tactical decisions.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6"/>
          <p:cNvSpPr txBox="1"/>
          <p:nvPr>
            <p:ph idx="3" type="body"/>
          </p:nvPr>
        </p:nvSpPr>
        <p:spPr>
          <a:xfrm>
            <a:off x="6089650" y="11359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193" name="Google Shape;193;p26"/>
          <p:cNvSpPr txBox="1"/>
          <p:nvPr>
            <p:ph idx="4" type="body"/>
          </p:nvPr>
        </p:nvSpPr>
        <p:spPr>
          <a:xfrm>
            <a:off x="6089650" y="1621725"/>
            <a:ext cx="5804100" cy="49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b="1" lang="en-US" u="sng">
                <a:solidFill>
                  <a:srgbClr val="1D1D1F"/>
                </a:solidFill>
                <a:highlight>
                  <a:srgbClr val="FFFFFF"/>
                </a:highlight>
              </a:rPr>
              <a:t>Tiki-Taka</a:t>
            </a:r>
            <a:r>
              <a:rPr lang="en-US">
                <a:solidFill>
                  <a:srgbClr val="1D1D1F"/>
                </a:solidFill>
                <a:highlight>
                  <a:srgbClr val="FFFFFF"/>
                </a:highlight>
              </a:rPr>
              <a:t> uses UiPath Apps, Data Fabric, Maestro, and AI Agents to automate football match preparation.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b="1" lang="en-US" u="sng">
                <a:solidFill>
                  <a:srgbClr val="1D1D1F"/>
                </a:solidFill>
                <a:highlight>
                  <a:srgbClr val="FFFFFF"/>
                </a:highlight>
              </a:rPr>
              <a:t>OpponentScout Agent</a:t>
            </a:r>
            <a:r>
              <a:rPr lang="en-US">
                <a:solidFill>
                  <a:srgbClr val="1D1D1F"/>
                </a:solidFill>
                <a:highlight>
                  <a:srgbClr val="FFFFFF"/>
                </a:highlight>
              </a:rPr>
              <a:t> analyzes match, team, player, and historical data to generate opponent insights and risk score.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b="1" lang="en-US" u="sng">
                <a:solidFill>
                  <a:srgbClr val="1D1D1F"/>
                </a:solidFill>
                <a:highlight>
                  <a:srgbClr val="FFFFFF"/>
                </a:highlight>
              </a:rPr>
              <a:t>TacticalPlanner Agent</a:t>
            </a:r>
            <a:r>
              <a:rPr lang="en-US">
                <a:solidFill>
                  <a:srgbClr val="1D1D1F"/>
                </a:solidFill>
                <a:highlight>
                  <a:srgbClr val="FFFFFF"/>
                </a:highlight>
              </a:rPr>
              <a:t> converts the opponent analysis into a tactical plan with formation, game model, and tactical instructions.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b="1" lang="en-US" u="sng">
                <a:solidFill>
                  <a:srgbClr val="1D1D1F"/>
                </a:solidFill>
                <a:highlight>
                  <a:srgbClr val="FFFFFF"/>
                </a:highlight>
              </a:rPr>
              <a:t>LineupCoordinator Agent</a:t>
            </a:r>
            <a:r>
              <a:rPr lang="en-US">
                <a:solidFill>
                  <a:srgbClr val="1D1D1F"/>
                </a:solidFill>
                <a:highlight>
                  <a:srgbClr val="FFFFFF"/>
                </a:highlight>
              </a:rPr>
              <a:t> updates HomeTeam player positions based on the recommended formation and visualizes the lineup in the app.</a:t>
            </a:r>
            <a:endParaRPr sz="2400"/>
          </a:p>
        </p:txBody>
      </p:sp>
      <p:pic>
        <p:nvPicPr>
          <p:cNvPr id="194" name="Google Shape;194;p26"/>
          <p:cNvPicPr preferRelativeResize="0"/>
          <p:nvPr/>
        </p:nvPicPr>
        <p:blipFill rotWithShape="1">
          <a:blip r:embed="rId3">
            <a:alphaModFix/>
          </a:blip>
          <a:srcRect b="13913" l="7704" r="4754" t="13927"/>
          <a:stretch/>
        </p:blipFill>
        <p:spPr>
          <a:xfrm>
            <a:off x="8418750" y="391481"/>
            <a:ext cx="2126000" cy="4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/>
        </p:nvSpPr>
        <p:spPr>
          <a:xfrm>
            <a:off x="259203" y="360000"/>
            <a:ext cx="9000000" cy="49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 and technologies used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01" name="Google Shape;201;p27"/>
          <p:cNvGraphicFramePr/>
          <p:nvPr/>
        </p:nvGraphicFramePr>
        <p:xfrm>
          <a:off x="359999" y="1260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{724C2AA7-9CD1-4912-9184-E978BE241C13}</a:tableStyleId>
              </a:tblPr>
              <a:tblGrid>
                <a:gridCol w="2651025"/>
                <a:gridCol w="3078625"/>
              </a:tblGrid>
              <a:tr h="111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End-user​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Football Coaches, Match Analysts, Technical Staff 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department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Football Operations, Match Analysis, Coaching Team 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Industries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/>
                        <a:t>Sports, Football Clubs, Sports Analytics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UiPath products used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UiPath Apps, UiPath Maestro, UiPath Agents, Data Fabric, Studio Web 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113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Other - integrations / APIs / technologies used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/>
                        <a:t>Custom HTML, JavaScript, Structured Entity Modeling, AI Agent Workflows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202;p27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6438691" y="1016651"/>
            <a:ext cx="54978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Benefits, impact and outcomes</a:t>
            </a:r>
            <a:endParaRPr sz="1500"/>
          </a:p>
        </p:txBody>
      </p:sp>
      <p:sp>
        <p:nvSpPr>
          <p:cNvPr id="204" name="Google Shape;204;p27"/>
          <p:cNvSpPr txBox="1"/>
          <p:nvPr/>
        </p:nvSpPr>
        <p:spPr>
          <a:xfrm>
            <a:off x="6302301" y="1779735"/>
            <a:ext cx="5500500" cy="44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Reduces manual match preparation by connecting opponent analysis, tactical planning, and lineup updates in one workflow.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Helps coaches turn structured football data into actionable tactical decisions faster.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Improves lineup consistency by automatically mapping players to the recommended formation.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Provides a visual, demo-ready experience with pitch view, bench list, risk score, and tactical insights.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2222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05" name="Google Shape;205;p27"/>
          <p:cNvPicPr preferRelativeResize="0"/>
          <p:nvPr/>
        </p:nvPicPr>
        <p:blipFill rotWithShape="1">
          <a:blip r:embed="rId3">
            <a:alphaModFix/>
          </a:blip>
          <a:srcRect b="13913" l="7704" r="4754" t="13927"/>
          <a:stretch/>
        </p:blipFill>
        <p:spPr>
          <a:xfrm>
            <a:off x="8418750" y="391481"/>
            <a:ext cx="2126000" cy="4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28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360000" y="360000"/>
            <a:ext cx="90000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architecture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28" title="74c375fe-e6f7-4722-8a22-bc1fb9ad249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838" y="954326"/>
            <a:ext cx="10211623" cy="5747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8"/>
          <p:cNvPicPr preferRelativeResize="0"/>
          <p:nvPr/>
        </p:nvPicPr>
        <p:blipFill rotWithShape="1">
          <a:blip r:embed="rId4">
            <a:alphaModFix/>
          </a:blip>
          <a:srcRect b="13913" l="7704" r="4754" t="13927"/>
          <a:stretch/>
        </p:blipFill>
        <p:spPr>
          <a:xfrm>
            <a:off x="8418750" y="391481"/>
            <a:ext cx="2126000" cy="4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9"/>
          <p:cNvPicPr preferRelativeResize="0"/>
          <p:nvPr/>
        </p:nvPicPr>
        <p:blipFill rotWithShape="1">
          <a:blip r:embed="rId3">
            <a:alphaModFix/>
          </a:blip>
          <a:srcRect b="13913" l="7704" r="4754" t="13927"/>
          <a:stretch/>
        </p:blipFill>
        <p:spPr>
          <a:xfrm>
            <a:off x="8418750" y="391481"/>
            <a:ext cx="2126000" cy="4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imary Presentation Layouts">
  <a:themeElements>
    <a:clrScheme name="Primary Presentation Layouts">
      <a:dk1>
        <a:srgbClr val="000000"/>
      </a:dk1>
      <a:lt1>
        <a:srgbClr val="FFFFFF"/>
      </a:lt1>
      <a:dk2>
        <a:srgbClr val="9D9D9D"/>
      </a:dk2>
      <a:lt2>
        <a:srgbClr val="A32200"/>
      </a:lt2>
      <a:accent1>
        <a:srgbClr val="FCC0C5"/>
      </a:accent1>
      <a:accent2>
        <a:srgbClr val="5BCBDE"/>
      </a:accent2>
      <a:accent3>
        <a:srgbClr val="F6F6F6"/>
      </a:accent3>
      <a:accent4>
        <a:srgbClr val="434648"/>
      </a:accent4>
      <a:accent5>
        <a:srgbClr val="FFCBFF"/>
      </a:accent5>
      <a:accent6>
        <a:srgbClr val="1168C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